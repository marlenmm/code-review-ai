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2.png"/><Relationship Id="rId8" Type="http://schemas.openxmlformats.org/officeDocument/2006/relationships/image" Target="../media/image-2-8.png"/><Relationship Id="rId9" Type="http://schemas.openxmlformats.org/officeDocument/2006/relationships/image" Target="../media/image-2-2.png"/><Relationship Id="rId10" Type="http://schemas.openxmlformats.org/officeDocument/2006/relationships/image" Target="../media/image-2-10.png"/><Relationship Id="rId11" Type="http://schemas.openxmlformats.org/officeDocument/2006/relationships/image" Target="../media/image-2-2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262B3D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1005840"/>
            <a:ext cx="3657600" cy="3657600"/>
          </a:xfrm>
          <a:prstGeom prst="ellipse">
            <a:avLst/>
          </a:prstGeom>
          <a:solidFill>
            <a:srgbClr val="333A52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1234440"/>
            <a:ext cx="1234440" cy="1234440"/>
          </a:xfrm>
          <a:prstGeom prst="ellipse">
            <a:avLst/>
          </a:prstGeom>
          <a:solidFill>
            <a:srgbClr val="007ACC"/>
          </a:solidFill>
          <a:ln/>
        </p:spPr>
      </p:sp>
      <p:pic>
        <p:nvPicPr>
          <p:cNvPr id="5" name="Image 0" descr="/private/tmp/claude-501/-Users-marlenmelis-Documents-HIT-Summer-code-review-ai/66b6d75c-f337-4a3a-94f2-9d4acd93bd78/scratchpad/pptx_build/icons/p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3519" y="1456639"/>
            <a:ext cx="790042" cy="7900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331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AI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Built in Four Experiments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3703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pPr indent="0" marL="0">
              <a:buNone/>
            </a:pPr>
            <a:r>
              <a:rPr lang="en-US" sz="17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700" b="1" dirty="0">
                <a:solidFill>
                  <a:srgbClr val="5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Baseline</a:t>
            </a:r>
            <a:pPr indent="0" marL="0">
              <a:buNone/>
            </a:pPr>
            <a:r>
              <a:rPr lang="en-US" sz="17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700" b="1" dirty="0">
                <a:solidFill>
                  <a:srgbClr val="5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Review</a:t>
            </a:r>
            <a:pPr indent="0" marL="0">
              <a:buNone/>
            </a:pPr>
            <a:r>
              <a:rPr lang="en-US" sz="17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700" b="1" dirty="0">
                <a:solidFill>
                  <a:srgbClr val="5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LLM</a:t>
            </a:r>
            <a:pPr indent="0" marL="0">
              <a:buNone/>
            </a:pPr>
            <a:r>
              <a:rPr lang="en-US" sz="17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700" b="1" dirty="0">
                <a:solidFill>
                  <a:srgbClr val="5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58368" y="5806440"/>
            <a:ext cx="2743200" cy="0"/>
          </a:xfrm>
          <a:prstGeom prst="line">
            <a:avLst/>
          </a:prstGeom>
          <a:noFill/>
          <a:ln w="15875">
            <a:solidFill>
              <a:srgbClr val="333A5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9436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Marlen Melis   ·   Student ID 2026140428   ·   School of Computing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62636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Global Summer School — Intelligent Software Engineering  ·  Instructor Liu Jiakun  ·  July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292608"/>
          </a:xfrm>
          <a:prstGeom prst="roundRect">
            <a:avLst>
              <a:gd name="adj" fmla="val 50000"/>
            </a:avLst>
          </a:prstGeom>
          <a:solidFill>
            <a:srgbClr val="E8F3F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7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Dataset to Developer Tool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08176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stages, each self-contained — no downstream box was ever redesigned once an upstream one shipped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984248"/>
            <a:ext cx="566928" cy="566928"/>
          </a:xfrm>
          <a:prstGeom prst="ellipse">
            <a:avLst/>
          </a:prstGeom>
          <a:solidFill>
            <a:srgbClr val="007ACC"/>
          </a:solidFill>
          <a:ln/>
        </p:spPr>
      </p:sp>
      <p:pic>
        <p:nvPicPr>
          <p:cNvPr id="8" name="Image 0" descr="/private/tmp/claude-501/-Users-marlenmelis-Documents-HIT-Summer-code-review-ai/66b6d75c-f337-4a3a-94f2-9d4acd93bd78/scratchpad/pptx_build/icons/datas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272" y="2035272"/>
            <a:ext cx="464881" cy="46488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703320" y="19110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1248" y="269748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PR dataset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41248" y="315468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1,494 PRs · 5 repos</a:t>
            </a:r>
            <a:endParaRPr lang="en-US" sz="1150" dirty="0"/>
          </a:p>
        </p:txBody>
      </p:sp>
      <p:pic>
        <p:nvPicPr>
          <p:cNvPr id="12" name="Image 1" descr="/private/tmp/claude-501/-Users-marlenmelis-Documents-HIT-Summer-code-review-ai/66b6d75c-f337-4a3a-94f2-9d4acd93bd78/scratchpad/pptx_build/icons/chevron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2683764"/>
            <a:ext cx="137160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43400" y="17830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44568" y="1984248"/>
            <a:ext cx="566928" cy="566928"/>
          </a:xfrm>
          <a:prstGeom prst="ellipse">
            <a:avLst/>
          </a:prstGeom>
          <a:solidFill>
            <a:srgbClr val="007ACC"/>
          </a:solidFill>
          <a:ln/>
        </p:spPr>
      </p:sp>
      <p:pic>
        <p:nvPicPr>
          <p:cNvPr id="15" name="Image 2" descr="/private/tmp/claude-501/-Users-marlenmelis-Documents-HIT-Summer-code-review-ai/66b6d75c-f337-4a3a-94f2-9d4acd93bd78/scratchpad/pptx_build/icons/gea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592" y="2035272"/>
            <a:ext cx="464881" cy="46488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06640" y="19110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544568" y="269748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+ ML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544568" y="315468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/ Random Forest</a:t>
            </a:r>
            <a:endParaRPr lang="en-US" sz="1150" dirty="0"/>
          </a:p>
        </p:txBody>
      </p:sp>
      <p:pic>
        <p:nvPicPr>
          <p:cNvPr id="19" name="Image 3" descr="/private/tmp/claude-501/-Users-marlenmelis-Documents-HIT-Summer-code-review-ai/66b6d75c-f337-4a3a-94f2-9d4acd93bd78/scratchpad/pptx_build/icons/chevron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272" y="2683764"/>
            <a:ext cx="137160" cy="1645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046720" y="17830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247888" y="1984248"/>
            <a:ext cx="566928" cy="566928"/>
          </a:xfrm>
          <a:prstGeom prst="ellipse">
            <a:avLst/>
          </a:prstGeom>
          <a:solidFill>
            <a:srgbClr val="007ACC"/>
          </a:solidFill>
          <a:ln/>
        </p:spPr>
      </p:sp>
      <p:pic>
        <p:nvPicPr>
          <p:cNvPr id="22" name="Image 4" descr="/private/tmp/claude-501/-Users-marlenmelis-Documents-HIT-Summer-code-review-ai/66b6d75c-f337-4a3a-94f2-9d4acd93bd78/scratchpad/pptx_build/icons/comment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8912" y="2035272"/>
            <a:ext cx="464881" cy="46488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109960" y="19110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8247888" y="269748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review (human code)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8247888" y="315468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contexts × 4 strategies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40080" y="42519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841248" y="4453128"/>
            <a:ext cx="566928" cy="566928"/>
          </a:xfrm>
          <a:prstGeom prst="ellipse">
            <a:avLst/>
          </a:prstGeom>
          <a:solidFill>
            <a:srgbClr val="D8484D"/>
          </a:solidFill>
          <a:ln/>
        </p:spPr>
      </p:sp>
      <p:pic>
        <p:nvPicPr>
          <p:cNvPr id="28" name="Image 5" descr="/private/tmp/claude-501/-Users-marlenmelis-Documents-HIT-Summer-code-review-ai/66b6d75c-f337-4a3a-94f2-9d4acd93bd78/scratchpad/pptx_build/icons/wan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272" y="4504152"/>
            <a:ext cx="464881" cy="46488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703320" y="4379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841248" y="516636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review (AI code)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841248" y="562356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contexts × 5 strategies</a:t>
            </a:r>
            <a:endParaRPr lang="en-US" sz="1150" dirty="0"/>
          </a:p>
        </p:txBody>
      </p:sp>
      <p:pic>
        <p:nvPicPr>
          <p:cNvPr id="32" name="Image 6" descr="/private/tmp/claude-501/-Users-marlenmelis-Documents-HIT-Summer-code-review-ai/66b6d75c-f337-4a3a-94f2-9d4acd93bd78/scratchpad/pptx_build/icons/chevron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7952" y="5152644"/>
            <a:ext cx="137160" cy="164592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4343400" y="42519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4544568" y="4453128"/>
            <a:ext cx="566928" cy="566928"/>
          </a:xfrm>
          <a:prstGeom prst="ellipse">
            <a:avLst/>
          </a:prstGeom>
          <a:solidFill>
            <a:srgbClr val="1B1E2B"/>
          </a:solidFill>
          <a:ln/>
        </p:spPr>
      </p:sp>
      <p:pic>
        <p:nvPicPr>
          <p:cNvPr id="35" name="Image 7" descr="/private/tmp/claude-501/-Users-marlenmelis-Documents-HIT-Summer-code-review-ai/66b6d75c-f337-4a3a-94f2-9d4acd93bd78/scratchpad/pptx_build/icons/server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5592" y="4504152"/>
            <a:ext cx="464881" cy="464881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406640" y="4379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27"/>
          <p:cNvSpPr/>
          <p:nvPr/>
        </p:nvSpPr>
        <p:spPr>
          <a:xfrm>
            <a:off x="4544568" y="516636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500" dirty="0"/>
          </a:p>
        </p:txBody>
      </p:sp>
      <p:sp>
        <p:nvSpPr>
          <p:cNvPr id="38" name="Text 28"/>
          <p:cNvSpPr/>
          <p:nvPr/>
        </p:nvSpPr>
        <p:spPr>
          <a:xfrm>
            <a:off x="4544568" y="562356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+ deep mode</a:t>
            </a:r>
            <a:endParaRPr lang="en-US" sz="1150" dirty="0"/>
          </a:p>
        </p:txBody>
      </p:sp>
      <p:pic>
        <p:nvPicPr>
          <p:cNvPr id="39" name="Image 8" descr="/private/tmp/claude-501/-Users-marlenmelis-Documents-HIT-Summer-code-review-ai/66b6d75c-f337-4a3a-94f2-9d4acd93bd78/scratchpad/pptx_build/icons/chevron_blu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91272" y="5152644"/>
            <a:ext cx="137160" cy="164592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8046720" y="42519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8247888" y="4453128"/>
            <a:ext cx="566928" cy="566928"/>
          </a:xfrm>
          <a:prstGeom prst="ellipse">
            <a:avLst/>
          </a:prstGeom>
          <a:solidFill>
            <a:srgbClr val="1B1E2B"/>
          </a:solidFill>
          <a:ln/>
        </p:spPr>
      </p:sp>
      <p:pic>
        <p:nvPicPr>
          <p:cNvPr id="42" name="Image 9" descr="/private/tmp/claude-501/-Users-marlenmelis-Documents-HIT-Summer-code-review-ai/66b6d75c-f337-4a3a-94f2-9d4acd93bd78/scratchpad/pptx_build/icons/puzzle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8912" y="4504152"/>
            <a:ext cx="464881" cy="464881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11109960" y="4379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4" name="Text 32"/>
          <p:cNvSpPr/>
          <p:nvPr/>
        </p:nvSpPr>
        <p:spPr>
          <a:xfrm>
            <a:off x="8247888" y="516636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</a:t>
            </a:r>
            <a:endParaRPr lang="en-US" sz="1500" dirty="0"/>
          </a:p>
        </p:txBody>
      </p:sp>
      <p:sp>
        <p:nvSpPr>
          <p:cNvPr id="45" name="Text 33"/>
          <p:cNvSpPr/>
          <p:nvPr/>
        </p:nvSpPr>
        <p:spPr>
          <a:xfrm>
            <a:off x="8247888" y="562356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· inline comments</a:t>
            </a:r>
            <a:endParaRPr lang="en-US" sz="1150" dirty="0"/>
          </a:p>
        </p:txBody>
      </p:sp>
      <p:pic>
        <p:nvPicPr>
          <p:cNvPr id="46" name="Image 10" descr="/private/tmp/claude-501/-Users-marlenmelis-Documents-HIT-Summer-code-review-ai/66b6d75c-f337-4a3a-94f2-9d4acd93bd78/scratchpad/pptx_build/icons/chevron_blu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722376" y="3918204"/>
            <a:ext cx="164592" cy="137160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8" name="Text 35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542032" cy="292608"/>
          </a:xfrm>
          <a:prstGeom prst="roundRect">
            <a:avLst>
              <a:gd name="adj" fmla="val 50000"/>
            </a:avLst>
          </a:prstGeom>
          <a:solidFill>
            <a:srgbClr val="E8F3F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7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08176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1,494 real, closed PRs mined across 5 actively-maintained repositories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395728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938528"/>
            <a:ext cx="1993392" cy="102229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7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1,494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41248" y="2969057"/>
            <a:ext cx="1993392" cy="7077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mined of 1,500 targeted — 5 excluded on server-side 502s, 1 slot lost to pagination drift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828800"/>
            <a:ext cx="2395728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3401568" y="1938528"/>
            <a:ext cx="1993392" cy="102229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7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01568" y="2969057"/>
            <a:ext cx="1993392" cy="7077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merge rate — 1,075 merged / 419 not merged; 63.0–81.9% by repo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959352"/>
            <a:ext cx="2395728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4069080"/>
            <a:ext cx="1993392" cy="102229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7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25.4%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1248" y="5099609"/>
            <a:ext cx="1993392" cy="7077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 PRs are AI-authored (Copilot coding agent) — 7.7–37.5% by repo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0" y="3959352"/>
            <a:ext cx="2395728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16" name="Text 14"/>
          <p:cNvSpPr/>
          <p:nvPr/>
        </p:nvSpPr>
        <p:spPr>
          <a:xfrm>
            <a:off x="3401568" y="4069080"/>
            <a:ext cx="1993392" cy="102229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7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65.3% / 74.2%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01568" y="5099609"/>
            <a:ext cx="1993392" cy="7077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rate: AI-authored vs. human-authored (pooled) — direction flips in 2 of 5 repos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AI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1828800"/>
            <a:ext cx="5394960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1E2B">
                <a:alpha val="18000"/>
              </a:srgbClr>
            </a:outerShdw>
          </a:effectLst>
        </p:spPr>
      </p:sp>
      <p:pic>
        <p:nvPicPr>
          <p:cNvPr id="21" name="Image 0" descr="/Users/marlenmelis/Documents/HIT Summer/code-review-ai/results/figures/merge_rate_ai_vs_hu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3368" y="2479687"/>
            <a:ext cx="4992624" cy="295018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precision: 0 false positives across 59 manually spot-checked flagged PRs (68 assessments).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542032" cy="292608"/>
          </a:xfrm>
          <a:prstGeom prst="roundRect">
            <a:avLst>
              <a:gd name="adj" fmla="val 50000"/>
            </a:avLst>
          </a:prstGeom>
          <a:solidFill>
            <a:srgbClr val="E8F3F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7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ML Models — Human-Written Code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08176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&amp; Random Forest merge prediction under a strict, leakage-free feature contract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892808"/>
            <a:ext cx="3712464" cy="64190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7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76.8%  /  42.5%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41248" y="2499055"/>
            <a:ext cx="3712464" cy="444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rf_v1_balanced — accuracy / not-merged recall. Chosen for minority-class recall, not raw accuracy.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4114800" cy="27432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3337560"/>
            <a:ext cx="3675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findings beyond the headline number</a:t>
            </a:r>
            <a:endParaRPr lang="en-US" sz="1350" dirty="0"/>
          </a:p>
        </p:txBody>
      </p:sp>
      <p:pic>
        <p:nvPicPr>
          <p:cNvPr id="11" name="Image 0" descr="/private/tmp/claude-501/-Users-marlenmelis-Documents-HIT-Summer-code-review-ai/66b6d75c-f337-4a3a-94f2-9d4acd93bd78/scratchpad/pptx_build/icons/chevron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3730752"/>
            <a:ext cx="146304" cy="1463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15568" y="3703320"/>
            <a:ext cx="341985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leakage ban is measured, not assumed: the forbidden feature set (V0) reaches 97–99% ROC-AUC, and p_has_approved alone explains 41.6% of its importance.</a:t>
            </a:r>
            <a:endParaRPr lang="en-US" sz="1200" dirty="0"/>
          </a:p>
        </p:txBody>
      </p:sp>
      <p:pic>
        <p:nvPicPr>
          <p:cNvPr id="13" name="Image 1" descr="/private/tmp/claude-501/-Users-marlenmelis-Documents-HIT-Summer-code-review-ai/66b6d75c-f337-4a3a-94f2-9d4acd93bd78/scratchpad/pptx_build/icons/chevron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4754880"/>
            <a:ext cx="146304" cy="1463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15568" y="4727448"/>
            <a:ext cx="341985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beat literal-spec: V2 (pre-review-only + author history) outperforms V1 on every matched model / class-weight config — author_prior_merge_rate becomes its top feature (10.0%).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029200" y="1783080"/>
            <a:ext cx="6537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1E2B">
                <a:alpha val="18000"/>
              </a:srgbClr>
            </a:outerShdw>
          </a:effectLst>
        </p:spPr>
      </p:sp>
      <p:pic>
        <p:nvPicPr>
          <p:cNvPr id="16" name="Image 2" descr="/Users/marlenmelis/Documents/HIT Summer/code-review-ai/results/figures/exp2_model_comparis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633" y="1984248"/>
            <a:ext cx="6013094" cy="3758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29200" y="5989320"/>
            <a:ext cx="6537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by feature variant — the leaky V0 superset (blue/orange, left) vs. the compliant V1/V2 sets (right two groups)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542032" cy="292608"/>
          </a:xfrm>
          <a:prstGeom prst="roundRect">
            <a:avLst>
              <a:gd name="adj" fmla="val 50000"/>
            </a:avLst>
          </a:prstGeom>
          <a:solidFill>
            <a:srgbClr val="E8F3F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7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Review — Human-Written Code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08176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context tiers × 4 prompt strategies, scored on Experiment 2's exact 224-PR held-out test split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892808"/>
            <a:ext cx="3712464" cy="80833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93.75%  /  0.816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41248" y="2684678"/>
            <a:ext cx="3712464" cy="5596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config (few_shot @ diff_commit_message, tied by role_based @ diff_metadata) — an IDENTICAL confusion matrix (14/1/1/0) to Experiment 2's own best model.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584448"/>
            <a:ext cx="3712464" cy="7132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8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41248" y="4270248"/>
            <a:ext cx="371246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macro-F1 across all 16 configs — well below the 0.816 peak. 11 of 16 configs never predict CLOSE at all.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98348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1B1E2B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4983480"/>
            <a:ext cx="3712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parity, not superiority — the LLM matches the trained model only when prompt and context are chosen correctly.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1783080"/>
            <a:ext cx="653796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1E2B">
                <a:alpha val="18000"/>
              </a:srgbClr>
            </a:outerShdw>
          </a:effectLst>
        </p:spPr>
      </p:sp>
      <p:pic>
        <p:nvPicPr>
          <p:cNvPr id="15" name="Image 0" descr="/Users/marlenmelis/Documents/HIT Summer/code-review-ai/results/figures/exp3_merge_accuracy_by_con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2181860"/>
            <a:ext cx="6135624" cy="34086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542032" cy="292608"/>
          </a:xfrm>
          <a:prstGeom prst="roundRect">
            <a:avLst>
              <a:gd name="adj" fmla="val 50000"/>
            </a:avLst>
          </a:prstGeom>
          <a:solidFill>
            <a:srgbClr val="E8F3F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7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Review of AI-Generated Code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08176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context tiers × 5 strategies, targeted at the 380 AI-authored PRs — 3 fully-complete PRs, directional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FBEAEA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892808"/>
            <a:ext cx="3712464" cy="7370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8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41248" y="2605126"/>
            <a:ext cx="3712464" cy="51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Not-merged recall for role_based / few_shot / cot — on EVERY context tier, with no exception.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E7F3EE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447288"/>
            <a:ext cx="3712464" cy="7370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  /  0.50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41248" y="4159606"/>
            <a:ext cx="3712464" cy="51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self_reflection / multi_turn recall — the only two strategies that ever catch a bad AI-authored PR.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489204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context lifts recall 0.0 → 0.4 (macro-F1 peaks there, 0.498) — but complete_se_context, which stacks every source, regresses back to 0.0.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1783080"/>
            <a:ext cx="653796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1E2B">
                <a:alpha val="18000"/>
              </a:srgbClr>
            </a:outerShdw>
          </a:effectLst>
        </p:spPr>
      </p:sp>
      <p:pic>
        <p:nvPicPr>
          <p:cNvPr id="14" name="Image 0" descr="/Users/marlenmelis/Documents/HIT Summer/code-review-ai/results/figures/exp4_not_merged_recall_by_strate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5057" y="1984248"/>
            <a:ext cx="6086246" cy="380390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020824" cy="292608"/>
          </a:xfrm>
          <a:prstGeom prst="roundRect">
            <a:avLst>
              <a:gd name="adj" fmla="val 50000"/>
            </a:avLst>
          </a:prstGeom>
          <a:solidFill>
            <a:srgbClr val="E8F3F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020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7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vs. LLM vs. Improved LLM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08176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cross-experiment table from the final report (Section 7) — patterns, not raw cross-population comparisons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0879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916936"/>
                <a:gridCol w="2916936"/>
                <a:gridCol w="292608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 2 — ML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 3 — LLM (human code)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 4 — LLM (AI code)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config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rf_v1_balanced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few_shot / role_based (tied)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multi_turn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93.75% peak / 84.8% pooled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Not-merged 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 peak / 9.4% pooled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 peak / 0.525 pooled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0.486 (best strategy)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search on 890 PRs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(prompt 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(prompt 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Milliseconds, 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~60–1,090 ms/call, API quota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~120–1,240 ms/call, API quota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623560"/>
            <a:ext cx="10908792" cy="685800"/>
          </a:xfrm>
          <a:prstGeom prst="roundRect">
            <a:avLst>
              <a:gd name="adj" fmla="val 10667"/>
            </a:avLst>
          </a:prstGeom>
          <a:solidFill>
            <a:srgbClr val="E8F3FC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62356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007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AI-generated code, changing HOW a model reasons matters more than changing WHAT it is shown.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E8F3F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7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— fast vs. deep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08176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/review endpoint; the mode split encodes what Experiments 2–4 actually found, not a coin flip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4572000" cy="1920240"/>
          </a:xfrm>
          <a:prstGeom prst="roundRect">
            <a:avLst>
              <a:gd name="adj" fmla="val 4762"/>
            </a:avLst>
          </a:prstGeom>
          <a:solidFill>
            <a:srgbClr val="F4F6FB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1984248"/>
            <a:ext cx="530352" cy="530352"/>
          </a:xfrm>
          <a:prstGeom prst="ellipse">
            <a:avLst/>
          </a:prstGeom>
          <a:solidFill>
            <a:srgbClr val="007ACC"/>
          </a:solidFill>
          <a:ln/>
        </p:spPr>
      </p:sp>
      <p:pic>
        <p:nvPicPr>
          <p:cNvPr id="8" name="Image 0" descr="/private/tmp/claude-501/-Users-marlenmelis-Documents-HIT-Summer-code-review-ai/66b6d75c-f337-4a3a-94f2-9d4acd93bd78/scratchpad/pptx_build/icons/gea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2026676"/>
            <a:ext cx="445496" cy="4454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9842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7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mode  ·  default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59536" y="2514600"/>
            <a:ext cx="41330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rf_v1_balanced — instant, free, always runs. The reliable floor: 76.8% accuracy, no API dependency.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931920"/>
            <a:ext cx="4572000" cy="2103120"/>
          </a:xfrm>
          <a:prstGeom prst="roundRect">
            <a:avLst>
              <a:gd name="adj" fmla="val 4348"/>
            </a:avLst>
          </a:prstGeom>
          <a:solidFill>
            <a:srgbClr val="1B1E2B"/>
          </a:solidFill>
          <a:ln/>
        </p:spPr>
      </p:sp>
      <p:sp>
        <p:nvSpPr>
          <p:cNvPr id="12" name="Shape 9"/>
          <p:cNvSpPr/>
          <p:nvPr/>
        </p:nvSpPr>
        <p:spPr>
          <a:xfrm>
            <a:off x="859536" y="4133088"/>
            <a:ext cx="530352" cy="530352"/>
          </a:xfrm>
          <a:prstGeom prst="ellipse">
            <a:avLst/>
          </a:prstGeom>
          <a:solidFill>
            <a:srgbClr val="5FB6E8"/>
          </a:solidFill>
          <a:ln/>
        </p:spPr>
      </p:sp>
      <p:pic>
        <p:nvPicPr>
          <p:cNvPr id="13" name="Image 1" descr="/private/tmp/claude-501/-Users-marlenmelis-Documents-HIT-Summer-code-review-ai/66b6d75c-f337-4a3a-94f2-9d4acd93bd78/scratchpad/pptx_build/icons/wan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964" y="4175516"/>
            <a:ext cx="445496" cy="4454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413308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mode  ·  opt-in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859536" y="4663440"/>
            <a:ext cx="41330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multi_turn @ diff_repo_context on Groq (llama-3.1-8b-instant) — Experiment 4's own best-balanced config. Any LLM failure degrades to fast mode + a warning field, never a 500.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0" y="1783080"/>
            <a:ext cx="6080760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1E2B">
                <a:alpha val="18000"/>
              </a:srgbClr>
            </a:outerShdw>
          </a:effectLst>
        </p:spPr>
      </p:sp>
      <p:pic>
        <p:nvPicPr>
          <p:cNvPr id="17" name="Image 2" descr="/Users/marlenmelis/Documents/HIT Summer/code-review-ai/docs/images/api_docs_dem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68" y="2367773"/>
            <a:ext cx="5678424" cy="308257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86400" y="6080760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FastAPI Swagger UI — /health and /review, backed by Experiment 2's exact V1 feature pipeline re-derived from a raw diff.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AI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262B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"Review Current Changes"  ·  git diff → backend call → results panel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67128"/>
            <a:ext cx="310896" cy="310896"/>
          </a:xfrm>
          <a:prstGeom prst="ellipse">
            <a:avLst/>
          </a:prstGeom>
          <a:solidFill>
            <a:srgbClr val="262B3D"/>
          </a:solidFill>
          <a:ln/>
        </p:spPr>
      </p:sp>
      <p:pic>
        <p:nvPicPr>
          <p:cNvPr id="7" name="Image 0" descr="/private/tmp/claude-501/-Users-marlenmelis-Documents-HIT-Summer-code-review-ai/66b6d75c-f337-4a3a-94f2-9d4acd93bd78/scratchpad/pptx_build/icons/check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240280"/>
            <a:ext cx="164592" cy="1645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2112264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Merge-probability gauge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244144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SVG arc rendered from the backend's prediction, live in the panel.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3246120"/>
            <a:ext cx="310896" cy="310896"/>
          </a:xfrm>
          <a:prstGeom prst="ellipse">
            <a:avLst/>
          </a:prstGeom>
          <a:solidFill>
            <a:srgbClr val="262B3D"/>
          </a:solidFill>
          <a:ln/>
        </p:spPr>
      </p:sp>
      <p:pic>
        <p:nvPicPr>
          <p:cNvPr id="11" name="Image 1" descr="/private/tmp/claude-501/-Users-marlenmelis-Documents-HIT-Summer-code-review-ai/66b6d75c-f337-4a3a-94f2-9d4acd93bd78/scratchpad/pptx_build/icons/che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319272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191256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Click-to-jump review comments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097280" y="352044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anchoring.ts resolves prose comments to file:line — the backend returns no location, by design (fixing it would mean re-touching Exp4's LLM prompt contract).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4325112"/>
            <a:ext cx="310896" cy="310896"/>
          </a:xfrm>
          <a:prstGeom prst="ellipse">
            <a:avLst/>
          </a:prstGeom>
          <a:solidFill>
            <a:srgbClr val="262B3D"/>
          </a:solidFill>
          <a:ln/>
        </p:spPr>
      </p:sp>
      <p:pic>
        <p:nvPicPr>
          <p:cNvPr id="15" name="Image 2" descr="/private/tmp/claude-501/-Users-marlenmelis-Documents-HIT-Summer-code-review-ai/66b6d75c-f337-4a3a-94f2-9d4acd93bd78/scratchpad/pptx_build/icons/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398264"/>
            <a:ext cx="164592" cy="164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427024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editor highlights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097280" y="4599432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decorations.ts marks the anchored lines directly in the diff.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5404104"/>
            <a:ext cx="310896" cy="310896"/>
          </a:xfrm>
          <a:prstGeom prst="ellipse">
            <a:avLst/>
          </a:prstGeom>
          <a:solidFill>
            <a:srgbClr val="262B3D"/>
          </a:solidFill>
          <a:ln/>
        </p:spPr>
      </p:sp>
      <p:pic>
        <p:nvPicPr>
          <p:cNvPr id="19" name="Image 3" descr="/private/tmp/claude-501/-Users-marlenmelis-Documents-HIT-Summer-code-review-ai/66b6d75c-f337-4a3a-94f2-9d4acd93bd78/scratchpad/pptx_build/icons/chec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477256"/>
            <a:ext cx="164592" cy="16459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97280" y="534924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end-to-end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097280" y="5678424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unit tests + 7 tests inside a real, unmodified VS Code instance — real git diff, real backend call, no mocks.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537960" y="685800"/>
            <a:ext cx="5029200" cy="5577840"/>
          </a:xfrm>
          <a:prstGeom prst="roundRect">
            <a:avLst>
              <a:gd name="adj" fmla="val 1636"/>
            </a:avLst>
          </a:prstGeom>
          <a:solidFill>
            <a:srgbClr val="1E1E1E"/>
          </a:solidFill>
          <a:ln w="12700">
            <a:solidFill>
              <a:srgbClr val="E1E5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1E2B">
                <a:alpha val="18000"/>
              </a:srgbClr>
            </a:outerShdw>
          </a:effectLst>
        </p:spPr>
      </p:sp>
      <p:pic>
        <p:nvPicPr>
          <p:cNvPr id="23" name="Image 4" descr="/Users/marlenmelis/Documents/HIT Summer/code-review-ai/docs/images/vscode_panel_dem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1281989"/>
            <a:ext cx="4626864" cy="438546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AI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640080"/>
            <a:ext cx="2926080" cy="2926080"/>
          </a:xfrm>
          <a:prstGeom prst="ellipse">
            <a:avLst/>
          </a:prstGeom>
          <a:solidFill>
            <a:srgbClr val="262B3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960120" cy="960120"/>
          </a:xfrm>
          <a:prstGeom prst="ellipse">
            <a:avLst/>
          </a:prstGeom>
          <a:solidFill>
            <a:srgbClr val="007ACC"/>
          </a:solidFill>
          <a:ln/>
        </p:spPr>
      </p:sp>
      <p:pic>
        <p:nvPicPr>
          <p:cNvPr id="4" name="Image 0" descr="/private/tmp/claude-501/-Users-marlenmelis-Documents-HIT-Summer-code-review-ai/66b6d75c-f337-4a3a-94f2-9d4acd93bd78/scratchpad/pptx_build/icons/fl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" y="921258"/>
            <a:ext cx="672084" cy="6720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9659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System, Built in Stages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278892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experiments, read in order, tell one story: a real dataset revealed a real class imbalance and a real AI-authored population worth studying separately; a trained model set a concrete, honestly-evaluated bar; an LLM matched that bar exactly — but only when prompt and context were chosen well; and the same prompting that achieved that fragile match on human code failed completely on AI-generated code, until the model was asked to reason differently, not just given more to reason about.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5166360"/>
            <a:ext cx="10058400" cy="1005840"/>
          </a:xfrm>
          <a:prstGeom prst="roundRect">
            <a:avLst>
              <a:gd name="adj" fmla="val 7273"/>
            </a:avLst>
          </a:prstGeom>
          <a:solidFill>
            <a:srgbClr val="262B3D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51663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414 Python tests · 49 extension unit tests · 7 real VS Code integration tests · every number in this deck traced to results/tables/*.json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2026-07-25T19:36:28Z</dcterms:created>
  <dcterms:modified xsi:type="dcterms:W3CDTF">2026-07-25T19:36:28Z</dcterms:modified>
</cp:coreProperties>
</file>